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E8871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871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SVM
(TF-IDF)</c:v>
                  </c:pt>
                  <c:pt idx="1">
                    <c:v>Random
Forest
(TF-IDF)</c:v>
                  </c:pt>
                  <c:pt idx="2">
                    <c:v>SVM
(Dense)</c:v>
                  </c:pt>
                  <c:pt idx="3">
                    <c:v>Random
Forest
(Dense)</c:v>
                  </c:pt>
                  <c:pt idx="4">
                    <c:v>Naive
Bayes
(TF-IDF)</c:v>
                  </c:pt>
                  <c:pt idx="5">
                    <c:v>Naive
Bayes
(Dense)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98.68</c:v>
                </c:pt>
                <c:pt idx="1">
                  <c:v>97.87</c:v>
                </c:pt>
                <c:pt idx="2">
                  <c:v>97.3</c:v>
                </c:pt>
                <c:pt idx="3">
                  <c:v>95.37</c:v>
                </c:pt>
                <c:pt idx="4">
                  <c:v>93.94</c:v>
                </c:pt>
                <c:pt idx="5">
                  <c:v>76.32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B2B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6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103120"/>
            <a:ext cx="5943600" cy="5943600"/>
          </a:xfrm>
          <a:prstGeom prst="ellipse">
            <a:avLst/>
          </a:prstGeom>
          <a:solidFill>
            <a:srgbClr val="273479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3840480" cy="3840480"/>
          </a:xfrm>
          <a:prstGeom prst="ellipse">
            <a:avLst/>
          </a:prstGeom>
          <a:solidFill>
            <a:srgbClr val="27347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Misinformation with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NLP &amp; Machine Learning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5262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&amp; Word2Vec feature engineering — Naive Bayes, SVM, and Random Forest, compared and evaluated end to 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 •  Artificial Intelligence and Data Science  •  July 2026</a:t>
            </a:r>
            <a:endParaRPr lang="en-US" sz="1200" dirty="0"/>
          </a:p>
        </p:txBody>
      </p:sp>
      <p:pic>
        <p:nvPicPr>
          <p:cNvPr id="8" name="Image 0" descr="/home/claude/ppt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5029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766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Misinformation now travels faster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 it can be checked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6309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and social platforms removed the editorial gatekeeping that once slowed false stories down. Manual fact-checking alone can no longer keep pace with the volume of content published every day — creating a real need for automated, content-based screening tools.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777240"/>
            <a:ext cx="4023360" cy="512064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/>
        </p:spPr>
      </p:sp>
      <p:pic>
        <p:nvPicPr>
          <p:cNvPr id="6" name="Image 0" descr="/home/claude/ppt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1430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0" y="1188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01000" y="18288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treats fake news detection as pure binary text classification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01000" y="2697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464040" y="2788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966960" y="26974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5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001000" y="3337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only on the article's own text — no external fact-checking database is consulted.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001000" y="4434840"/>
            <a:ext cx="329184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01000" y="461772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writing-style and structural patterns typical of fabricated reporting — not facts.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 out to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41248" cy="841248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5" name="Image 0" descr="/home/claude/ppt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031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9385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clean pipeline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91640" y="229514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article text through cleaning, feature extraction, and modeling — fully reproducible.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841248" cy="841248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9" name="Image 1" descr="/home/claude/ppt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0040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30358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representations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91640" y="339242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(sparse, word-frequency) versus Word2Vec (dense, semantic embeddings).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160520"/>
            <a:ext cx="841248" cy="841248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3" name="Image 2" descr="/home/claude/ppt/icons/bar-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29768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1330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three algorithms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91640" y="448970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Bayes, SVM, and Random Forest, evaluated on identical train/test splits.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5257800"/>
            <a:ext cx="841248" cy="841248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7" name="Image 3" descr="/home/claude/ppt/icons/moni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39496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91640" y="52303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usable demo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691640" y="558698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best model into an interactive Streamlit screening tool.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589520" y="1965960"/>
            <a:ext cx="4023360" cy="397764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21" name="Text 15"/>
          <p:cNvSpPr/>
          <p:nvPr/>
        </p:nvSpPr>
        <p:spPr>
          <a:xfrm>
            <a:off x="7589520" y="233172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8400" dirty="0"/>
          </a:p>
        </p:txBody>
      </p:sp>
      <p:sp>
        <p:nvSpPr>
          <p:cNvPr id="22" name="Text 16"/>
          <p:cNvSpPr/>
          <p:nvPr/>
        </p:nvSpPr>
        <p:spPr>
          <a:xfrm>
            <a:off x="7863840" y="35204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feature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combinations compared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8046720" y="4434840"/>
            <a:ext cx="3474720" cy="0"/>
          </a:xfrm>
          <a:prstGeom prst="line">
            <a:avLst/>
          </a:prstGeom>
          <a:noFill/>
          <a:ln w="12700">
            <a:solidFill>
              <a:srgbClr val="3C4A96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863840" y="4617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algorithms  ×  2 feature sets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one evidence-based final pick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ISOT Fake and Real News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Reuters-sourced real articles, and fake articles from sources independently flagged by fact-checkers.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5146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44,898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articles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22402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5146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38,646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20440" y="33832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de-duplication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2402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5146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54.8%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55080" y="33832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/ 45.2% fake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22402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4F6FB"/>
          </a:solidFill>
          <a:ln/>
        </p:spPr>
      </p:sp>
      <p:sp>
        <p:nvSpPr>
          <p:cNvPr id="15" name="Text 13"/>
          <p:cNvSpPr/>
          <p:nvPr/>
        </p:nvSpPr>
        <p:spPr>
          <a:xfrm>
            <a:off x="9189720" y="25146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189720" y="33832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title, text,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subject, date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17720"/>
            <a:ext cx="11109960" cy="1417320"/>
          </a:xfrm>
          <a:prstGeom prst="roundRect">
            <a:avLst>
              <a:gd name="adj" fmla="val 7742"/>
            </a:avLst>
          </a:prstGeom>
          <a:solidFill>
            <a:srgbClr val="1E2761"/>
          </a:solidFill>
          <a:ln/>
        </p:spPr>
      </p:sp>
      <p:pic>
        <p:nvPicPr>
          <p:cNvPr id="18" name="Image 0" descr="/home/claude/ppt/icons/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937760"/>
            <a:ext cx="548640" cy="5486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00200" y="48920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known artifact, caught and fixed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600200" y="525780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articles almost always open with a Reuters wire-service dateline. Left in, a model can hit 95%+ accuracy by detecting that formatting alone — not genuine fakeness. It's stripped out before any model sees the data.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text to a deployed prediction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6060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56232" y="2313432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40280" y="306324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32304" y="26060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432304" y="26060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39896" y="2313432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23944" y="306324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15968" y="26060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315968" y="26060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23560" y="2313432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07608" y="306324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99632" y="26060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199632" y="26060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07224" y="2313432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91272" y="306324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083296" y="26060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083296" y="26060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90888" y="2313432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74936" y="3063240"/>
            <a:ext cx="192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966960" y="26060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E8871E"/>
          </a:solidFill>
          <a:ln/>
        </p:spPr>
      </p:sp>
      <p:sp>
        <p:nvSpPr>
          <p:cNvPr id="25" name="Text 23"/>
          <p:cNvSpPr/>
          <p:nvPr/>
        </p:nvSpPr>
        <p:spPr>
          <a:xfrm>
            <a:off x="9966960" y="26060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274552" y="2313432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480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explains why a step is taken before showing the code — and is reviewed before the next phase begins.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194560" y="5120640"/>
            <a:ext cx="7772400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/>
        </p:spPr>
      </p:sp>
      <p:pic>
        <p:nvPicPr>
          <p:cNvPr id="29" name="Image 0" descr="/home/claude/ppt/icons/git-bran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5349240"/>
            <a:ext cx="502920" cy="50292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3246120" y="5349240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train/test split shared across both feature sets — every model comparison is a fair, apples-to-apples test.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the text before anything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be learned from 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reusable clean_text_pipeline() function, applied identically everywhere — notebooks and the deployed app alike.</a:t>
            </a:r>
            <a:endParaRPr lang="en-US" sz="1350" dirty="0"/>
          </a:p>
        </p:txBody>
      </p:sp>
      <p:pic>
        <p:nvPicPr>
          <p:cNvPr id="5" name="Image 0" descr="/home/claude/ppt/icons/sciss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0896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30540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dataset artifacts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29000" y="30540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Wire-service datelines removed first, before anything else</a:t>
            </a:r>
            <a:endParaRPr lang="en-US" sz="1150" dirty="0"/>
          </a:p>
        </p:txBody>
      </p:sp>
      <p:pic>
        <p:nvPicPr>
          <p:cNvPr id="8" name="Image 1" descr="/home/claude/ppt/icons/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3075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36758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429000" y="367588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strip HTML, URLs, punctuation, numbers, emoji</a:t>
            </a:r>
            <a:endParaRPr lang="en-US" sz="1150" dirty="0"/>
          </a:p>
        </p:txBody>
      </p:sp>
      <p:pic>
        <p:nvPicPr>
          <p:cNvPr id="11" name="Image 2" descr="/home/claude/ppt/icons/ha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52544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4297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342900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individual word tokens</a:t>
            </a:r>
            <a:endParaRPr lang="en-US" sz="1150" dirty="0"/>
          </a:p>
        </p:txBody>
      </p:sp>
      <p:pic>
        <p:nvPicPr>
          <p:cNvPr id="14" name="Image 3" descr="/home/claude/ppt/icons/fil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974336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49194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stopwords &amp; lemmatize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3429000" y="49194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meaningful, base-form words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7315200" y="822960"/>
            <a:ext cx="4343400" cy="5394960"/>
          </a:xfrm>
          <a:prstGeom prst="roundRect">
            <a:avLst>
              <a:gd name="adj" fmla="val 2526"/>
            </a:avLst>
          </a:prstGeom>
          <a:solidFill>
            <a:srgbClr val="1E2761"/>
          </a:solidFill>
          <a:ln/>
        </p:spPr>
      </p:sp>
      <p:sp>
        <p:nvSpPr>
          <p:cNvPr id="18" name="Text 12"/>
          <p:cNvSpPr/>
          <p:nvPr/>
        </p:nvSpPr>
        <p:spPr>
          <a:xfrm>
            <a:off x="763524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7635240" y="14630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“WASHINGTON (Reuters) - The Senate voted 52-48 on Tuesday...”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635240" y="2514600"/>
            <a:ext cx="3703320" cy="0"/>
          </a:xfrm>
          <a:prstGeom prst="line">
            <a:avLst/>
          </a:prstGeom>
          <a:noFill/>
          <a:ln w="12700">
            <a:solidFill>
              <a:srgbClr val="3C4A96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63524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7635240" y="30632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senate vote tuesday ...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7635240" y="3840480"/>
            <a:ext cx="3703320" cy="0"/>
          </a:xfrm>
          <a:prstGeom prst="line">
            <a:avLst/>
          </a:prstGeom>
          <a:noFill/>
          <a:ln w="12700">
            <a:solidFill>
              <a:srgbClr val="3C4A96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635240" y="4023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remove the dateline first?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635240" y="438912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in, it's a giveaway the model can shortcut on instead of learning genuine content signal.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3 &amp;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turn words into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4F6FB"/>
          </a:solidFill>
          <a:ln/>
        </p:spPr>
      </p:sp>
      <p:pic>
        <p:nvPicPr>
          <p:cNvPr id="5" name="Image 0" descr="/home/claude/ppt/icons/h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68680" y="2743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· Weighted word frequency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8680" y="32918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Scores each word by frequency in a document, down-weighted by how common it is across the whole corpus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91363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Thousands of dimensions — one per vocabulary word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4535424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Fast, no training step, highly interpretable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5157216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notion of semantic similarity between words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80760" y="178308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pic>
        <p:nvPicPr>
          <p:cNvPr id="13" name="Image 1" descr="/home/claude/ppt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0312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4088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Word2Vec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400800" y="2743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· Learned semantic embeddings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400800" y="32918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Shallow neural network learns vectors so related words end up close in space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400800" y="391363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~100 dense dimensions per word, averaged per article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400800" y="4535424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Captures synonyms and semantic relationships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400800" y="5157216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 interpretable; averaging can dilute rare, high-signal words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6 &amp; 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classical algorithms, head to head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/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5059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004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7490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402336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Bayes' theorem with a feature-independence assumption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49377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52120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fast; strong baseline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43400" y="196596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4F6FB"/>
          </a:solidFill>
          <a:ln/>
        </p:spPr>
      </p:sp>
      <p:sp>
        <p:nvSpPr>
          <p:cNvPr id="13" name="Shape 10"/>
          <p:cNvSpPr/>
          <p:nvPr/>
        </p:nvSpPr>
        <p:spPr>
          <a:xfrm>
            <a:off x="4663440" y="22860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home/claude/ppt/icons/bar-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450592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32004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63440" y="37490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663440" y="402336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Maximum-margin hyperplane, linear kernel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663440" y="49377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663440" y="52120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Excels on high-dimensional sparse text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138160" y="196596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F4F6FB"/>
          </a:solidFill>
          <a:ln/>
        </p:spPr>
      </p:sp>
      <p:sp>
        <p:nvSpPr>
          <p:cNvPr id="21" name="Shape 17"/>
          <p:cNvSpPr/>
          <p:nvPr/>
        </p:nvSpPr>
        <p:spPr>
          <a:xfrm>
            <a:off x="8458200" y="22860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2" descr="/home/claude/ppt/icons/git-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2450592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58200" y="32004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8458200" y="37490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458200" y="402336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 across many decorrelated trees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458200" y="49377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458200" y="52120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noisy features, captures non-linearity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trained on both TF-IDF and Word2Vec — six model/feature combinations, one direct comparison.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11 · REAL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on TF-IDF wins — by a clear margin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across all six model / feature combinations, evaluated on a held-out, stratified 20% test set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758952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366760" y="1965960"/>
            <a:ext cx="3291840" cy="44348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pic>
        <p:nvPicPr>
          <p:cNvPr id="7" name="Image 0" descr="/home/claude/ppt/icons/aw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2860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32520" y="2880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73252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+ TF-IDF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8732520" y="3931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149840" y="393192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98.68%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732520" y="449884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0149840" y="449884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98.55%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8732520" y="506577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149840" y="5065776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99.78%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732520" y="563270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time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149840" y="5632704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sec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 beat Word2Vec across every algorithm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foregone conclusion — Word2Vec is the more “sophisticated” technique. But this dataset's real-vs-fake signal turned out to live heavily in specific vocabulary choices, which sparse TF-IDF features capture directly and dense averaged embeddings partly dilute.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6" name="Image 0" descr="/home/claude/ppt/icons/check-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17296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3017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not assumed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34440" y="335584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report predicted TF-IDF would be a strong baseline here — the real numbers confirmed 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0" name="Image 1" descr="/home/claude/ppt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04164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886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Dateline fix worked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234440" y="422452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Reuters/Washington artifact tokens vanished from top-word lists after Phase 6 cleaning — verified, not just theorized.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800600"/>
            <a:ext cx="502920" cy="502920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4" name="Image 2" descr="/home/claude/ppt/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910328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4754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close behind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34440" y="509320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recall of all six (99.3%) — catches slightly more fake articles, at a small precision cost.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315200" y="1508760"/>
            <a:ext cx="4343400" cy="4663440"/>
          </a:xfrm>
          <a:prstGeom prst="roundRect">
            <a:avLst>
              <a:gd name="adj" fmla="val 2526"/>
            </a:avLst>
          </a:prstGeom>
          <a:solidFill>
            <a:srgbClr val="1E2761"/>
          </a:solidFill>
          <a:ln/>
        </p:spPr>
      </p:sp>
      <p:sp>
        <p:nvSpPr>
          <p:cNvPr id="18" name="Text 13"/>
          <p:cNvSpPr/>
          <p:nvPr/>
        </p:nvSpPr>
        <p:spPr>
          <a:xfrm>
            <a:off x="7635240" y="1783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— error pattern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635240" y="2194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7,730 held-out test articles: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635240" y="26974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3,425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8915400" y="277063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caught as fake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7635240" y="34747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4,193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8915400" y="354787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identified as real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7635240" y="42519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8915400" y="432511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articles wrongly flagged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7635240" y="5029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2400" dirty="0"/>
          </a:p>
        </p:txBody>
      </p:sp>
      <p:sp>
        <p:nvSpPr>
          <p:cNvPr id="27" name="Text 22"/>
          <p:cNvSpPr/>
          <p:nvPr/>
        </p:nvSpPr>
        <p:spPr>
          <a:xfrm>
            <a:off x="8915400" y="510235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articles missed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12 &amp; 13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notebook to a usable tool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4709160"/>
          </a:xfrm>
          <a:prstGeom prst="roundRect">
            <a:avLst>
              <a:gd name="adj" fmla="val 233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U0001F4F0  Fake News Detector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 article below to screen it for patterns typically associated with fake news.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28803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01752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“WASHINGTON (Reuters) - The Senate voted...”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457200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572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Article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52578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5F6EF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53766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Predicted: REAL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56875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96.4%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0" descr="/home/claude/ppt/icons/check-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2" y="1901952"/>
            <a:ext cx="219456" cy="21945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543800" y="1719072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cleaning pipeline as training — copied verbatim, not approximated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903720" y="2834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1" descr="/home/claude/ppt/icons/check-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2953512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543800" y="2770632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best_model_metadata.json to auto-select TF-IDF or Word2Vec vectorization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903720" y="3886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/home/claude/ppt/icons/check-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4005072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543800" y="3822192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confidence score and plain-language explanation, never a bare verdict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903720" y="49377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/home/claude/ppt/icons/check-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5056632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43800" y="4873752"/>
            <a:ext cx="4114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empty input, short text, and missing model files gracefully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2734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complete, evidence-based pipeline —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an assumed one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choice — which feature set, which algorithm — was settled by direct comparison on real, held-out data, not assumption.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27347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977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BERT for contextual understanding beyond bag-of-words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37490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27347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3977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44348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English, U.S.-centric news sources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37490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273479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3977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Social-context signals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443484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content features with sharing patterns and source reputation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263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2026-07-28T08:17:20Z</dcterms:created>
  <dcterms:modified xsi:type="dcterms:W3CDTF">2026-07-28T08:17:20Z</dcterms:modified>
</cp:coreProperties>
</file>